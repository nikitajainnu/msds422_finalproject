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4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2DC65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 Regression</c:v>
                </c:pt>
                <c:pt idx="1">
                  <c:v>Random Forest</c:v>
                </c:pt>
                <c:pt idx="2">
                  <c:v>Decision Tree</c:v>
                </c:pt>
                <c:pt idx="3">
                  <c:v>Gradient Boosting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0.67</c:v>
                </c:pt>
                <c:pt idx="1">
                  <c:v>0.68</c:v>
                </c:pt>
                <c:pt idx="2">
                  <c:v>0.54</c:v>
                </c:pt>
                <c:pt idx="3">
                  <c:v>0.66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96-3B4A-BB57-E11E9140DC1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F0A5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 Regression</c:v>
                </c:pt>
                <c:pt idx="1">
                  <c:v>Random Forest</c:v>
                </c:pt>
                <c:pt idx="2">
                  <c:v>Decision Tree</c:v>
                </c:pt>
                <c:pt idx="3">
                  <c:v>Gradient Boosting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0.71</c:v>
                </c:pt>
                <c:pt idx="1">
                  <c:v>0.72</c:v>
                </c:pt>
                <c:pt idx="2">
                  <c:v>0.57999999999999996</c:v>
                </c:pt>
                <c:pt idx="3">
                  <c:v>0.71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796-3B4A-BB57-E11E9140DC1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253D5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253D5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94A3B8"/>
                </a:solidFill>
                <a:latin typeface="Arial"/>
              </a:rPr>
              <a:t>Accuracy (%) Across Published Studies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Published Accuracy Range</c:v>
                </c:pt>
              </c:strCache>
            </c:strRef>
          </c:tx>
          <c:spPr>
            <a:solidFill>
              <a:srgbClr val="253D5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97A-6842-8246-F503E7D9CBD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97A-6842-8246-F503E7D9CBD3}"/>
              </c:ext>
            </c:extLst>
          </c:dPt>
          <c:dPt>
            <c:idx val="2"/>
            <c:invertIfNegative val="0"/>
            <c:bubble3D val="0"/>
            <c:spPr>
              <a:solidFill>
                <a:srgbClr val="2DC65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97A-6842-8246-F503E7D9CBD3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497A-6842-8246-F503E7D9CBD3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497A-6842-8246-F503E7D9CBD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Gaussian
Process
(Beal 2020)</c:v>
                </c:pt>
                <c:pt idx="1">
                  <c:v>Pythagorean
Formula
(Weirich 2025)</c:v>
                </c:pt>
                <c:pt idx="2">
                  <c:v>Our Models
(2025)</c:v>
                </c:pt>
                <c:pt idx="3">
                  <c:v>Logistic Reg.
(Gifford 2023)</c:v>
                </c:pt>
                <c:pt idx="4">
                  <c:v>Naïve Bayes
(Beal 2020)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44.64</c:v>
                </c:pt>
                <c:pt idx="1">
                  <c:v>55</c:v>
                </c:pt>
                <c:pt idx="2">
                  <c:v>54</c:v>
                </c:pt>
                <c:pt idx="3">
                  <c:v>67</c:v>
                </c:pt>
                <c:pt idx="4">
                  <c:v>67.53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97A-6842-8246-F503E7D9CBD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1B2E4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253D5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8356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046720" y="-365760"/>
            <a:ext cx="2011680" cy="2011680"/>
          </a:xfrm>
          <a:prstGeom prst="ellipse">
            <a:avLst/>
          </a:prstGeom>
          <a:solidFill>
            <a:srgbClr val="1B2E42"/>
          </a:solidFill>
          <a:ln w="12700">
            <a:solidFill>
              <a:srgbClr val="1B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412480" y="0"/>
            <a:ext cx="1280160" cy="1280160"/>
          </a:xfrm>
          <a:prstGeom prst="ellipse">
            <a:avLst/>
          </a:prstGeom>
          <a:solidFill>
            <a:srgbClr val="2DC653">
              <a:alpha val="30000"/>
            </a:srgbClr>
          </a:solidFill>
          <a:ln w="12700">
            <a:solidFill>
              <a:srgbClr val="2DC65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64592" y="274320"/>
            <a:ext cx="8979408" cy="0"/>
          </a:xfrm>
          <a:prstGeom prst="line">
            <a:avLst/>
          </a:prstGeom>
          <a:noFill/>
          <a:ln w="6350">
            <a:solidFill>
              <a:srgbClr val="1B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64592" y="1280160"/>
            <a:ext cx="8979408" cy="0"/>
          </a:xfrm>
          <a:prstGeom prst="line">
            <a:avLst/>
          </a:prstGeom>
          <a:noFill/>
          <a:ln w="6350">
            <a:solidFill>
              <a:srgbClr val="1B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64592" y="2286000"/>
            <a:ext cx="8979408" cy="0"/>
          </a:xfrm>
          <a:prstGeom prst="line">
            <a:avLst/>
          </a:prstGeom>
          <a:noFill/>
          <a:ln w="6350">
            <a:solidFill>
              <a:srgbClr val="1B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64592" y="3291840"/>
            <a:ext cx="8979408" cy="0"/>
          </a:xfrm>
          <a:prstGeom prst="line">
            <a:avLst/>
          </a:prstGeom>
          <a:noFill/>
          <a:ln w="6350">
            <a:solidFill>
              <a:srgbClr val="1B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64592" y="4297680"/>
            <a:ext cx="8979408" cy="0"/>
          </a:xfrm>
          <a:prstGeom prst="line">
            <a:avLst/>
          </a:prstGeom>
          <a:noFill/>
          <a:ln w="6350">
            <a:solidFill>
              <a:srgbClr val="1B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MSDS 422 | Final Project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37160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NFL Game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Using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4400" dirty="0"/>
          </a:p>
        </p:txBody>
      </p:sp>
      <p:sp>
        <p:nvSpPr>
          <p:cNvPr id="12" name="Shape 10"/>
          <p:cNvSpPr/>
          <p:nvPr/>
        </p:nvSpPr>
        <p:spPr>
          <a:xfrm>
            <a:off x="365760" y="3657600"/>
            <a:ext cx="5486400" cy="27432"/>
          </a:xfrm>
          <a:prstGeom prst="rect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3749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Charlie Peng  ·  </a:t>
            </a:r>
            <a:r>
              <a:rPr lang="en-US" sz="14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Yanchen</a:t>
            </a: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Zhou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Northwestern University  · 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E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5544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463040"/>
          </a:xfrm>
          <a:prstGeom prst="rect">
            <a:avLst/>
          </a:prstGeom>
          <a:solidFill>
            <a:srgbClr val="253D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09728" cy="1463040"/>
          </a:xfrm>
          <a:prstGeom prst="rect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0058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7955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use historical team performance metrics to accurately</a:t>
            </a:r>
            <a:endParaRPr lang="en-US" sz="1700" dirty="0"/>
          </a:p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outcome of an NFL game (win/loss)?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65760" y="2651760"/>
            <a:ext cx="2651760" cy="2194560"/>
          </a:xfrm>
          <a:prstGeom prst="rect">
            <a:avLst/>
          </a:prstGeom>
          <a:solidFill>
            <a:srgbClr val="253D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2697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3154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Analytics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52044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modern ML techniques to real-world sports prediction problems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2651760"/>
            <a:ext cx="2651760" cy="2194560"/>
          </a:xfrm>
          <a:prstGeom prst="rect">
            <a:avLst/>
          </a:prstGeom>
          <a:solidFill>
            <a:srgbClr val="253D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0" y="2697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🏈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00400" y="3154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Win/Loss Prediction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352044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binary classifiers using team-level historical game statistics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651760"/>
            <a:ext cx="2651760" cy="2194560"/>
          </a:xfrm>
          <a:prstGeom prst="rect">
            <a:avLst/>
          </a:prstGeom>
          <a:solidFill>
            <a:srgbClr val="253D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35040" y="2697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035040" y="3154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352044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multiple algorithms to identify the best approach for this domain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E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 — nflverse Repository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3840480"/>
          </a:xfrm>
          <a:prstGeom prst="rect">
            <a:avLst/>
          </a:prstGeom>
          <a:solidFill>
            <a:srgbClr val="253D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114800" cy="411480"/>
          </a:xfrm>
          <a:prstGeom prst="rect">
            <a:avLst/>
          </a:prstGeom>
          <a:solidFill>
            <a:srgbClr val="1A9E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ORIGIN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137160" cy="137160"/>
          </a:xfrm>
          <a:prstGeom prst="ellipse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463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nflverse GitHub repository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011680"/>
            <a:ext cx="137160" cy="137160"/>
          </a:xfrm>
          <a:prstGeom prst="ellipse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1965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game-level NFL statistics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514600"/>
            <a:ext cx="137160" cy="137160"/>
          </a:xfrm>
          <a:prstGeom prst="ellipse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468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NFL seasons of historical data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017520"/>
            <a:ext cx="137160" cy="137160"/>
          </a:xfrm>
          <a:prstGeom prst="ellipse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2971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Offensive &amp; defensive team metrics per game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520440"/>
            <a:ext cx="137160" cy="137160"/>
          </a:xfrm>
          <a:prstGeom prst="ellipse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3474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Play-level granularity available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4023360"/>
            <a:ext cx="137160" cy="137160"/>
          </a:xfrm>
          <a:prstGeom prst="ellipse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3977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and engineered for ML modeling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960120"/>
            <a:ext cx="4069080" cy="1828800"/>
          </a:xfrm>
          <a:prstGeom prst="rect">
            <a:avLst/>
          </a:prstGeom>
          <a:solidFill>
            <a:srgbClr val="253D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00600" y="1005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Snapshot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14173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~2,500+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800600" y="192024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26480" y="14173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126480" y="192024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EWMA Features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452360" y="14173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452360" y="192024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Hold-out Season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09160" y="2926080"/>
            <a:ext cx="4069080" cy="1874520"/>
          </a:xfrm>
          <a:prstGeom prst="rect">
            <a:avLst/>
          </a:prstGeom>
          <a:solidFill>
            <a:srgbClr val="253D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00600" y="29718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0600" y="33375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home_win</a:t>
            </a: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Binary variable (1 = home team wins, 0 = home team loses)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00600" y="39319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accuracy (always predict home win): 56.4%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E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EWMA Metrics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914400"/>
          </a:xfrm>
          <a:prstGeom prst="rect">
            <a:avLst/>
          </a:prstGeom>
          <a:solidFill>
            <a:srgbClr val="253D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09728" cy="91440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0058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Exponentially Weighted Moving Average (EWMA)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simple season averages, EWMA gives more weight to recent games — capturing current team form and momentum rather than outdated performance.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4114800" cy="2743200"/>
          </a:xfrm>
          <a:prstGeom prst="rect">
            <a:avLst/>
          </a:prstGeom>
          <a:solidFill>
            <a:srgbClr val="253D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4114800" cy="347472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04825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HOME TEAM FEATURES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4231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home_ewma_rushing_offense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63347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rushing yards gained per game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94436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home_ewma_passing_offense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1546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passing yards gained per game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346557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home_ewma_rushing_defense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367588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rushing yards allowed per game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98678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home_ewma_passing_defense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419709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passing yards allowed per game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2011680"/>
            <a:ext cx="4114800" cy="2743200"/>
          </a:xfrm>
          <a:prstGeom prst="rect">
            <a:avLst/>
          </a:prstGeom>
          <a:solidFill>
            <a:srgbClr val="253D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63440" y="2011680"/>
            <a:ext cx="4114800" cy="347472"/>
          </a:xfrm>
          <a:prstGeom prst="rect">
            <a:avLst/>
          </a:prstGeom>
          <a:solidFill>
            <a:srgbClr val="6B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0" y="204825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✈️  AWAY TEAM FEATURES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24231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away_ewma_rushing_offense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54880" y="263347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 rushing yards gained per game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54880" y="294436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away_ewma_passing_offense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54880" y="31546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 passing yards gained per game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54880" y="346557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away_ewma_rushing_defense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54880" y="367588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 rushing yards allowed per game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54880" y="398678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away_ewma_passing_defense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54880" y="419709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 passing yards allowed per game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E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846320" cy="3840480"/>
          </a:xfrm>
          <a:prstGeom prst="rect">
            <a:avLst/>
          </a:prstGeom>
          <a:solidFill>
            <a:srgbClr val="253D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Correlation with home_win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4356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home_passing_offense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291840" y="1463040"/>
            <a:ext cx="1536192" cy="182880"/>
          </a:xfrm>
          <a:prstGeom prst="rect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73752" y="1417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8470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away_passing_defense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91840" y="1874520"/>
            <a:ext cx="1170432" cy="182880"/>
          </a:xfrm>
          <a:prstGeom prst="rect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07992" y="1828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2585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home_rushing_offense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91840" y="2286000"/>
            <a:ext cx="950976" cy="182880"/>
          </a:xfrm>
          <a:prstGeom prst="rect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88536" y="22402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6700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home_passing_defense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91840" y="2697480"/>
            <a:ext cx="804672" cy="182880"/>
          </a:xfrm>
          <a:prstGeom prst="rect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42232" y="26517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081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away_passing_offense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91840" y="3108960"/>
            <a:ext cx="1463040" cy="18288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00600" y="3063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-0.20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34930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away_rushing_offense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91840" y="3520440"/>
            <a:ext cx="877824" cy="18288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215384" y="34747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39044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home_rushing_defense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91840" y="3931920"/>
            <a:ext cx="658368" cy="18288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995928" y="38862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-0.09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3159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away_rushing_defense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91840" y="4343400"/>
            <a:ext cx="512064" cy="18288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849624" y="42976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-0.07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394960" y="960120"/>
            <a:ext cx="3383280" cy="3840480"/>
          </a:xfrm>
          <a:prstGeom prst="rect">
            <a:avLst/>
          </a:prstGeom>
          <a:solidFill>
            <a:srgbClr val="253D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486400" y="1005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EDA Findings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0" y="1444752"/>
            <a:ext cx="64008" cy="274320"/>
          </a:xfrm>
          <a:prstGeom prst="rect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623560" y="14173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 are approximately normal with limited outliers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0" y="1975104"/>
            <a:ext cx="64008" cy="274320"/>
          </a:xfrm>
          <a:prstGeom prst="rect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623560" y="194767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features are left-skewed due to extreme performance games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0" y="2505456"/>
            <a:ext cx="64008" cy="274320"/>
          </a:xfrm>
          <a:prstGeom prst="rect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623560" y="2478024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metrics show stronger correlations with win outcomes than rushing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0" y="3035808"/>
            <a:ext cx="64008" cy="274320"/>
          </a:xfrm>
          <a:prstGeom prst="rect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623560" y="3008376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feature dominates — multiple predictors are needed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86400" y="3566160"/>
            <a:ext cx="64008" cy="274320"/>
          </a:xfrm>
          <a:prstGeom prst="rect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623560" y="353872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team features positively correlated; away features negatively correlated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486400" y="4096512"/>
            <a:ext cx="64008" cy="274320"/>
          </a:xfrm>
          <a:prstGeom prst="rect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623560" y="40690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win rate ≈ 56.4% — serves as baseline accuracy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E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Approach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822960"/>
          </a:xfrm>
          <a:prstGeom prst="rect">
            <a:avLst/>
          </a:prstGeom>
          <a:solidFill>
            <a:srgbClr val="253D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seasons prior to 2024  →  Hold out 2024 season as final test  →  Use Leave-One-Season-Out (LOGO) cross-validation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2011680" cy="2834640"/>
          </a:xfrm>
          <a:prstGeom prst="rect">
            <a:avLst/>
          </a:prstGeom>
          <a:solidFill>
            <a:srgbClr val="253D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2011680" cy="457200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93852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450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chosen: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679192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baseline; interpretable coefficients; good benchmark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 Low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42032" y="1920240"/>
            <a:ext cx="2011680" cy="2834640"/>
          </a:xfrm>
          <a:prstGeom prst="rect">
            <a:avLst/>
          </a:prstGeom>
          <a:solidFill>
            <a:srgbClr val="253D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542032" y="1920240"/>
            <a:ext cx="2011680" cy="457200"/>
          </a:xfrm>
          <a:prstGeom prst="rect">
            <a:avLst/>
          </a:prstGeom>
          <a:solidFill>
            <a:srgbClr val="1A9E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542032" y="193852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33472" y="2450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chosen: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33472" y="2679192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trees; captures non-linear patterns; reduces overfitting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33472" y="4389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 Medium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18304" y="1920240"/>
            <a:ext cx="2011680" cy="2834640"/>
          </a:xfrm>
          <a:prstGeom prst="rect">
            <a:avLst/>
          </a:prstGeom>
          <a:solidFill>
            <a:srgbClr val="253D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18304" y="1920240"/>
            <a:ext cx="2011680" cy="457200"/>
          </a:xfrm>
          <a:prstGeom prst="rect">
            <a:avLst/>
          </a:prstGeom>
          <a:solidFill>
            <a:srgbClr val="7D5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18304" y="193852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9744" y="2450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chosen: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09744" y="2679192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splits; single tree; useful for understanding key features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09744" y="4389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 Low-Med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94576" y="1920240"/>
            <a:ext cx="2011680" cy="2834640"/>
          </a:xfrm>
          <a:prstGeom prst="rect">
            <a:avLst/>
          </a:prstGeom>
          <a:solidFill>
            <a:srgbClr val="253D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894576" y="1920240"/>
            <a:ext cx="2011680" cy="457200"/>
          </a:xfrm>
          <a:prstGeom prst="rect">
            <a:avLst/>
          </a:prstGeom>
          <a:solidFill>
            <a:srgbClr val="6B1A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894576" y="193852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86016" y="2450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chosen: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86016" y="2679192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error correction; handles complex feature interactions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86016" y="4389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 High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metrics: Accuracy · F1 Score (weighted) · Log Loss · Leave-One-Group-Out Cross-Validation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E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— Logistic Regression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206240" cy="3886200"/>
          </a:xfrm>
          <a:prstGeom prst="rect">
            <a:avLst/>
          </a:prstGeom>
          <a:solidFill>
            <a:srgbClr val="253D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02412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09728" cy="109728"/>
          </a:xfrm>
          <a:prstGeom prst="ellipse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3716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classifier for binary outcomes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83664"/>
            <a:ext cx="109728" cy="109728"/>
          </a:xfrm>
          <a:prstGeom prst="ellipse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183794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probability of home win via logistic function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350008"/>
            <a:ext cx="109728" cy="109728"/>
          </a:xfrm>
          <a:prstGeom prst="ellipse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230428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scaled with StandardScaler before training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816352"/>
            <a:ext cx="109728" cy="109728"/>
          </a:xfrm>
          <a:prstGeom prst="ellipse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277063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as interpretable baseline model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282696"/>
            <a:ext cx="109728" cy="109728"/>
          </a:xfrm>
          <a:prstGeom prst="ellipse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323697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used to tune regularization (C, penalty, solver)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749040"/>
            <a:ext cx="109728" cy="109728"/>
          </a:xfrm>
          <a:prstGeom prst="ellipse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37033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params: C=0.013, L1 penalty (heavy regularization)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4215384"/>
            <a:ext cx="109728" cy="109728"/>
          </a:xfrm>
          <a:prstGeom prst="ellipse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" y="416966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regularization suggests features aren't strongly predictive individually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005840"/>
            <a:ext cx="1920240" cy="1005840"/>
          </a:xfrm>
          <a:prstGeom prst="rect">
            <a:avLst/>
          </a:prstGeom>
          <a:solidFill>
            <a:srgbClr val="253D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0" y="10515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754880" y="1600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72200" y="1005840"/>
            <a:ext cx="1920240" cy="1005840"/>
          </a:xfrm>
          <a:prstGeom prst="rect">
            <a:avLst/>
          </a:prstGeom>
          <a:solidFill>
            <a:srgbClr val="253D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172200" y="10515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172200" y="1600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589520" y="1005840"/>
            <a:ext cx="1920240" cy="1005840"/>
          </a:xfrm>
          <a:prstGeom prst="rect">
            <a:avLst/>
          </a:prstGeom>
          <a:solidFill>
            <a:srgbClr val="253D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589520" y="10515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0.56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7589520" y="1600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2240280"/>
            <a:ext cx="4251960" cy="2606040"/>
          </a:xfrm>
          <a:prstGeom prst="rect">
            <a:avLst/>
          </a:prstGeom>
          <a:solidFill>
            <a:srgbClr val="253D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92040" y="230428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Insight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92040" y="2670048"/>
            <a:ext cx="3977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CV accuracy: ~0.665  (leave-one-season-out)
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log loss indicates model makes confident wrong predictions.
Confusion matrix reveals poor home-loss prediction.
Being linear, it can only draw straight decision boundaries — </a:t>
            </a: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the main constraint.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E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— Random Forest  ★ Best Performer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9E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— Random Forest  ★ Best Overall Performer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206240" cy="3886200"/>
          </a:xfrm>
          <a:prstGeom prst="rect">
            <a:avLst/>
          </a:prstGeom>
          <a:solidFill>
            <a:srgbClr val="253D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02412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17320"/>
            <a:ext cx="109728" cy="109728"/>
          </a:xfrm>
          <a:prstGeom prst="ellipse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13716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200+ decision trees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883664"/>
            <a:ext cx="109728" cy="109728"/>
          </a:xfrm>
          <a:prstGeom prst="ellipse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183794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tree trained on a bootstrap sample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350008"/>
            <a:ext cx="109728" cy="109728"/>
          </a:xfrm>
          <a:prstGeom prst="ellipse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230428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feature subsets at each split (sqrt, log2 tested)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816352"/>
            <a:ext cx="109728" cy="109728"/>
          </a:xfrm>
          <a:prstGeom prst="ellipse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277063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non-linear relationships in game data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282696"/>
            <a:ext cx="109728" cy="109728"/>
          </a:xfrm>
          <a:prstGeom prst="ellipse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323697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class_weight='balanced' to handle class imbalance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749040"/>
            <a:ext cx="109728" cy="109728"/>
          </a:xfrm>
          <a:prstGeom prst="ellipse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" y="37033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Hypertuning: max_depth, n_estimators, min_samples_leaf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4215384"/>
            <a:ext cx="109728" cy="109728"/>
          </a:xfrm>
          <a:prstGeom prst="ellipse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" y="416966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max_depth=20, n_estimators=500, min_samples_leaf=20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1005840"/>
            <a:ext cx="1920240" cy="1005840"/>
          </a:xfrm>
          <a:prstGeom prst="rect">
            <a:avLst/>
          </a:prstGeom>
          <a:solidFill>
            <a:srgbClr val="253D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0" y="10515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4754880" y="1600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72200" y="1005840"/>
            <a:ext cx="1920240" cy="1005840"/>
          </a:xfrm>
          <a:prstGeom prst="rect">
            <a:avLst/>
          </a:prstGeom>
          <a:solidFill>
            <a:srgbClr val="253D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72200" y="10515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172200" y="1600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589520" y="1005840"/>
            <a:ext cx="1920240" cy="1005840"/>
          </a:xfrm>
          <a:prstGeom prst="rect">
            <a:avLst/>
          </a:prstGeom>
          <a:solidFill>
            <a:srgbClr val="253D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589520" y="10515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7589520" y="1600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Acc.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2240280"/>
            <a:ext cx="4251960" cy="2606040"/>
          </a:xfrm>
          <a:prstGeom prst="rect">
            <a:avLst/>
          </a:prstGeom>
          <a:solidFill>
            <a:srgbClr val="253D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92040" y="230428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Performed Best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92040" y="2670048"/>
            <a:ext cx="3977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Aggregating many trees reduces variance significantly.
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boundaries capture interaction effects between
home &amp; away stats.
Balanced class weights improve recall for minority class (home losses).
Most stable cross-validation performance across seasons.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E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 — Decision Tree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206240" cy="3886200"/>
          </a:xfrm>
          <a:prstGeom prst="rect">
            <a:avLst/>
          </a:prstGeom>
          <a:solidFill>
            <a:srgbClr val="253D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02412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09728" cy="109728"/>
          </a:xfrm>
          <a:prstGeom prst="ellipse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3716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hierarchical tree splitting on feature thresholds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83664"/>
            <a:ext cx="109728" cy="109728"/>
          </a:xfrm>
          <a:prstGeom prst="ellipse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183794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Initially no depth limit → severe overfitting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350008"/>
            <a:ext cx="109728" cy="109728"/>
          </a:xfrm>
          <a:prstGeom prst="ellipse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230428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tuned: max_depth, min_samples_leaf, criterion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816352"/>
            <a:ext cx="109728" cy="109728"/>
          </a:xfrm>
          <a:prstGeom prst="ellipse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277063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params: max_depth=5, min_samples_leaf=50, entropy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282696"/>
            <a:ext cx="109728" cy="109728"/>
          </a:xfrm>
          <a:prstGeom prst="ellipse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323697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visual interpretability of decision paths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749040"/>
            <a:ext cx="109728" cy="109728"/>
          </a:xfrm>
          <a:prstGeom prst="ellipse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37033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understanding which features drive splits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4215384"/>
            <a:ext cx="109728" cy="109728"/>
          </a:xfrm>
          <a:prstGeom prst="ellipse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" y="416966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class_weight='balanced' applied to handle imbalance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960120"/>
            <a:ext cx="4251960" cy="1828800"/>
          </a:xfrm>
          <a:prstGeom prst="rect">
            <a:avLst/>
          </a:prstGeom>
          <a:solidFill>
            <a:srgbClr val="253D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960120"/>
            <a:ext cx="4251960" cy="347472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46320" y="1005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Overfitting Detected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137160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Accuracy: 1.00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Accuracy: ~0.54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846320" y="214884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training fit = pure memorization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generalization to unseen 2024 games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926080"/>
            <a:ext cx="4251960" cy="1920240"/>
          </a:xfrm>
          <a:prstGeom prst="rect">
            <a:avLst/>
          </a:prstGeom>
          <a:solidFill>
            <a:srgbClr val="253D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92040" y="299008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Hypertuning (max_depth=5)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2040" y="33832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4892040" y="38862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03720" y="33832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6903720" y="38862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42519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underperforms ensemble methods — single trees cannot match aggregated wisdom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E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4 — Gradient Boosting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206240" cy="3886200"/>
          </a:xfrm>
          <a:prstGeom prst="rect">
            <a:avLst/>
          </a:prstGeom>
          <a:solidFill>
            <a:srgbClr val="253D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02412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09728" cy="109728"/>
          </a:xfrm>
          <a:prstGeom prst="ellipse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3716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trees sequentially — each tree corrects prior errors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83664"/>
            <a:ext cx="109728" cy="109728"/>
          </a:xfrm>
          <a:prstGeom prst="ellipse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183794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controls the contribution of each tree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350008"/>
            <a:ext cx="109728" cy="109728"/>
          </a:xfrm>
          <a:prstGeom prst="ellipse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230428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generalization than single decision tree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816352"/>
            <a:ext cx="109728" cy="109728"/>
          </a:xfrm>
          <a:prstGeom prst="ellipse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277063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hyperparameter tuning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282696"/>
            <a:ext cx="109728" cy="109728"/>
          </a:xfrm>
          <a:prstGeom prst="ellipse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323697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Tuned: n_estimators, learning_rate, max_depth, min_samples_leaf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749040"/>
            <a:ext cx="109728" cy="109728"/>
          </a:xfrm>
          <a:prstGeom prst="ellipse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37033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n_estimators=200, lr=0.05, max_depth=3, min_samples_leaf=20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4215384"/>
            <a:ext cx="109728" cy="109728"/>
          </a:xfrm>
          <a:prstGeom prst="ellipse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" y="416966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 trees (depth=3) prevent overfitting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005840"/>
            <a:ext cx="1920240" cy="1005840"/>
          </a:xfrm>
          <a:prstGeom prst="rect">
            <a:avLst/>
          </a:prstGeom>
          <a:solidFill>
            <a:srgbClr val="253D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0" y="10515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754880" y="1600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72200" y="1005840"/>
            <a:ext cx="1920240" cy="1005840"/>
          </a:xfrm>
          <a:prstGeom prst="rect">
            <a:avLst/>
          </a:prstGeom>
          <a:solidFill>
            <a:srgbClr val="253D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172200" y="10515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172200" y="1600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589520" y="1005840"/>
            <a:ext cx="1920240" cy="1005840"/>
          </a:xfrm>
          <a:prstGeom prst="rect">
            <a:avLst/>
          </a:prstGeom>
          <a:solidFill>
            <a:srgbClr val="253D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589520" y="10515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7589520" y="1600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RF Acc.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2240280"/>
            <a:ext cx="4251960" cy="2606040"/>
          </a:xfrm>
          <a:prstGeom prst="rect">
            <a:avLst/>
          </a:prstGeom>
          <a:solidFill>
            <a:srgbClr val="253D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92040" y="230428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vs. Bagging Tradeoff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92040" y="2697480"/>
            <a:ext cx="3977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(GB):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Sequentially reduces bias but risks overfitting with high lr or depth.
</a:t>
            </a: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(RF):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variance by averaging independent trees.
</a:t>
            </a:r>
            <a:r>
              <a:rPr lang="en-US" sz="1100" i="1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NFL game prediction, variance reduction (RF) outperformed bias reduction (GB).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E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914400"/>
          <a:ext cx="53035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2880360"/>
            <a:ext cx="5303520" cy="0"/>
          </a:xfrm>
          <a:prstGeom prst="line">
            <a:avLst/>
          </a:prstGeom>
          <a:noFill/>
          <a:ln w="19050">
            <a:solidFill>
              <a:srgbClr val="E74C3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840480" y="2651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(56.4%)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852160" y="914400"/>
            <a:ext cx="2926080" cy="3931920"/>
          </a:xfrm>
          <a:prstGeom prst="rect">
            <a:avLst/>
          </a:prstGeom>
          <a:solidFill>
            <a:srgbClr val="253D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989320" y="9784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Summary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852160" y="1371600"/>
            <a:ext cx="2926080" cy="457200"/>
          </a:xfrm>
          <a:prstGeom prst="rect">
            <a:avLst/>
          </a:prstGeom>
          <a:solidFill>
            <a:srgbClr val="1B2E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897880" y="141732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58000" y="141732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818120" y="141732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852160" y="1874520"/>
            <a:ext cx="2926080" cy="457200"/>
          </a:xfrm>
          <a:prstGeom prst="rect">
            <a:avLst/>
          </a:prstGeom>
          <a:solidFill>
            <a:srgbClr val="253D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897880" y="19202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Log. Reg.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858000" y="19202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818120" y="19202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852160" y="2377440"/>
            <a:ext cx="2926080" cy="457200"/>
          </a:xfrm>
          <a:prstGeom prst="rect">
            <a:avLst/>
          </a:prstGeom>
          <a:solidFill>
            <a:srgbClr val="1A3D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897880" y="242316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Rand. Forest ★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858000" y="242316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818120" y="242316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852160" y="2880360"/>
            <a:ext cx="2926080" cy="457200"/>
          </a:xfrm>
          <a:prstGeom prst="rect">
            <a:avLst/>
          </a:prstGeom>
          <a:solidFill>
            <a:srgbClr val="253D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897880" y="292608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Dec. Tree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858000" y="292608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818120" y="292608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852160" y="3383280"/>
            <a:ext cx="2926080" cy="457200"/>
          </a:xfrm>
          <a:prstGeom prst="rect">
            <a:avLst/>
          </a:prstGeom>
          <a:solidFill>
            <a:srgbClr val="253D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897880" y="342900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Grad. Boost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858000" y="342900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818120" y="342900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943600" y="39776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Random Forest achieved the best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and F1 across all models.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E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1828800"/>
          </a:xfrm>
          <a:prstGeom prst="rect">
            <a:avLst/>
          </a:prstGeom>
          <a:solidFill>
            <a:srgbClr val="253D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🏈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&gt; Rushing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offense EWMA showed the highest correlation with home win outcomes, consistent with the modern pass-heavy NFL era.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651760" cy="1828800"/>
          </a:xfrm>
          <a:prstGeom prst="rect">
            <a:avLst/>
          </a:prstGeom>
          <a:solidFill>
            <a:srgbClr val="253D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0" y="10972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🌲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91840" y="1508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Methods Win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18288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and Gradient Boosting both outperformed the single Decision Tree, demonstrating the value of model aggregation.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005840"/>
            <a:ext cx="2651760" cy="1828800"/>
          </a:xfrm>
          <a:prstGeom prst="rect">
            <a:avLst/>
          </a:prstGeom>
          <a:solidFill>
            <a:srgbClr val="253D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35040" y="10972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126480" y="1508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Dominant Feature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18288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metric explains outcomes. Multiple offensive and defensive metrics collectively contribute to prediction accuracy.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2651760" cy="1828800"/>
          </a:xfrm>
          <a:prstGeom prst="rect">
            <a:avLst/>
          </a:prstGeom>
          <a:solidFill>
            <a:srgbClr val="253D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31089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7200" y="3520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EWMA Adds Value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8404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Exponentially-weighted metrics better capture current team form than season-long averages, improving model generalization.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3017520"/>
            <a:ext cx="2651760" cy="1828800"/>
          </a:xfrm>
          <a:prstGeom prst="rect">
            <a:avLst/>
          </a:prstGeom>
          <a:solidFill>
            <a:srgbClr val="253D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0" y="31089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291840" y="3520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the Baseline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91840" y="38404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except the overfit Decision Tree exceeded the 56.4% baseline of always predicting a home team win.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3017520"/>
            <a:ext cx="2651760" cy="1828800"/>
          </a:xfrm>
          <a:prstGeom prst="rect">
            <a:avLst/>
          </a:prstGeom>
          <a:solidFill>
            <a:srgbClr val="253D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035040" y="31089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🔀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126480" y="3520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Inherent Randomness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26480" y="38404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NFL outcomes contain inherent unpredictability — even the best model tops out near 68%, consistent with prior research.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E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Context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96012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2519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68% (RF) falls within the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range of published results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577840" y="960120"/>
            <a:ext cx="3200400" cy="914400"/>
          </a:xfrm>
          <a:prstGeom prst="rect">
            <a:avLst/>
          </a:prstGeom>
          <a:solidFill>
            <a:srgbClr val="253D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577840" y="960120"/>
            <a:ext cx="91440" cy="914400"/>
          </a:xfrm>
          <a:prstGeom prst="rect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742432" y="10058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Beal et al. (2020)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742432" y="1216152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ML classifiers on NFL data (5 seasons)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742432" y="142646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ranged 44–67% across classifiers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577840" y="1965960"/>
            <a:ext cx="3200400" cy="914400"/>
          </a:xfrm>
          <a:prstGeom prst="rect">
            <a:avLst/>
          </a:prstGeom>
          <a:solidFill>
            <a:srgbClr val="253D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577840" y="1965960"/>
            <a:ext cx="91440" cy="914400"/>
          </a:xfrm>
          <a:prstGeom prst="rect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742432" y="20116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Gifford &amp; Bayrak (2023)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742432" y="2221992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&amp; Logistic Regression for NFL outcomes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742432" y="243230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competitive with tree methods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577840" y="2971800"/>
            <a:ext cx="3200400" cy="914400"/>
          </a:xfrm>
          <a:prstGeom prst="rect">
            <a:avLst/>
          </a:prstGeom>
          <a:solidFill>
            <a:srgbClr val="253D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577840" y="2971800"/>
            <a:ext cx="91440" cy="914400"/>
          </a:xfrm>
          <a:prstGeom prst="rect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742432" y="30175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Weirich et al. (2025)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742432" y="3227832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Pythagorean formula vs. RF and neural networks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742432" y="343814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scored/allowed most important predictors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577840" y="3977640"/>
            <a:ext cx="3200400" cy="914400"/>
          </a:xfrm>
          <a:prstGeom prst="rect">
            <a:avLst/>
          </a:prstGeom>
          <a:solidFill>
            <a:srgbClr val="253D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577840" y="3977640"/>
            <a:ext cx="91440" cy="914400"/>
          </a:xfrm>
          <a:prstGeom prst="rect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742432" y="40233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Brandon (2024)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742432" y="4233672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for NFL point spreads prediction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742432" y="444398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models outperform linear regression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E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1828800"/>
          </a:xfrm>
          <a:prstGeom prst="rect">
            <a:avLst/>
          </a:prstGeom>
          <a:solidFill>
            <a:srgbClr val="253D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51760" cy="365760"/>
          </a:xfrm>
          <a:prstGeom prst="rect">
            <a:avLst/>
          </a:prstGeom>
          <a:solidFill>
            <a:srgbClr val="6B22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Player Injuries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 status of key players (QB, star receivers) significantly affects game outcomes but was not included in the feature set.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651760" cy="1828800"/>
          </a:xfrm>
          <a:prstGeom prst="rect">
            <a:avLst/>
          </a:prstGeom>
          <a:solidFill>
            <a:srgbClr val="253D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651760" cy="365760"/>
          </a:xfrm>
          <a:prstGeom prst="rect">
            <a:avLst/>
          </a:prstGeom>
          <a:solidFill>
            <a:srgbClr val="6B22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91840" y="1051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🌧️  Weather &amp; Conditions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146304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 game weather (rain, cold, wind) can suppress passing offenses — an important factor not captured by historical EWMA stats.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005840"/>
            <a:ext cx="2651760" cy="1828800"/>
          </a:xfrm>
          <a:prstGeom prst="rect">
            <a:avLst/>
          </a:prstGeom>
          <a:solidFill>
            <a:srgbClr val="253D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035040" y="1005840"/>
            <a:ext cx="2651760" cy="365760"/>
          </a:xfrm>
          <a:prstGeom prst="rect">
            <a:avLst/>
          </a:prstGeom>
          <a:solidFill>
            <a:srgbClr val="6B22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26480" y="1051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Roster Changes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146304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agency signings, trades, and draft picks change team composition significantly between and within seasons.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2651760" cy="1828800"/>
          </a:xfrm>
          <a:prstGeom prst="rect">
            <a:avLst/>
          </a:prstGeom>
          <a:solidFill>
            <a:srgbClr val="253D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3017520"/>
            <a:ext cx="2651760" cy="365760"/>
          </a:xfrm>
          <a:prstGeom prst="rect">
            <a:avLst/>
          </a:prstGeom>
          <a:solidFill>
            <a:srgbClr val="6B22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063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🎲  Inherent Randomness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47472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NFL games have high variance: fumbles, deflections, and referee calls introduce outcomes that no model can predict from statistics alone.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0" y="3017520"/>
            <a:ext cx="2651760" cy="1828800"/>
          </a:xfrm>
          <a:prstGeom prst="rect">
            <a:avLst/>
          </a:prstGeom>
          <a:solidFill>
            <a:srgbClr val="253D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0" y="3017520"/>
            <a:ext cx="2651760" cy="365760"/>
          </a:xfrm>
          <a:prstGeom prst="rect">
            <a:avLst/>
          </a:prstGeom>
          <a:solidFill>
            <a:srgbClr val="6B22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91840" y="3063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Limited Feature Set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91840" y="347472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8 EWMA features used. Turnover rates, red zone efficiency, third-down conversion, and special teams stats could improve predictions.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35040" y="3017520"/>
            <a:ext cx="2651760" cy="1828800"/>
          </a:xfrm>
          <a:prstGeom prst="rect">
            <a:avLst/>
          </a:prstGeom>
          <a:solidFill>
            <a:srgbClr val="253D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35040" y="3017520"/>
            <a:ext cx="2651760" cy="365760"/>
          </a:xfrm>
          <a:prstGeom prst="rect">
            <a:avLst/>
          </a:prstGeom>
          <a:solidFill>
            <a:srgbClr val="6B22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26480" y="3063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 Temporal Drift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26480" y="347472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quality can shift dramatically mid-season. A single EWMA decay parameter may not optimally capture slow vs. fast-changing teams.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E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&amp; Next Steps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51760" cy="3886200"/>
          </a:xfrm>
          <a:prstGeom prst="rect">
            <a:avLst/>
          </a:prstGeom>
          <a:solidFill>
            <a:srgbClr val="253D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651760" cy="457200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Feature Set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109728" cy="109728"/>
          </a:xfrm>
          <a:prstGeom prst="ellipse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508760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injury report data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212848"/>
            <a:ext cx="109728" cy="109728"/>
          </a:xfrm>
          <a:prstGeom prst="ellipse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2167128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betting lines (market consensus)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871216"/>
            <a:ext cx="109728" cy="109728"/>
          </a:xfrm>
          <a:prstGeom prst="ellipse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2825496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conditions for outdoor stadiums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529584"/>
            <a:ext cx="109728" cy="109728"/>
          </a:xfrm>
          <a:prstGeom prst="ellipse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3483864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zone &amp; third-down efficiency stats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960120"/>
            <a:ext cx="2651760" cy="3886200"/>
          </a:xfrm>
          <a:prstGeom prst="rect">
            <a:avLst/>
          </a:prstGeom>
          <a:solidFill>
            <a:srgbClr val="253D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0" y="960120"/>
            <a:ext cx="2651760" cy="457200"/>
          </a:xfrm>
          <a:prstGeom prst="rect">
            <a:avLst/>
          </a:prstGeom>
          <a:solidFill>
            <a:srgbClr val="1A9E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0" y="98755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0" y="11887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Models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83280" y="1554480"/>
            <a:ext cx="109728" cy="109728"/>
          </a:xfrm>
          <a:prstGeom prst="ellipse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566160" y="1508760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neural networks (LSTM for sequences)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83280" y="2212848"/>
            <a:ext cx="109728" cy="109728"/>
          </a:xfrm>
          <a:prstGeom prst="ellipse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566160" y="2167128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Player-level tracking data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83280" y="2871216"/>
            <a:ext cx="109728" cy="109728"/>
          </a:xfrm>
          <a:prstGeom prst="ellipse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566160" y="2825496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Transformer-based models on play sequences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83280" y="3529584"/>
            <a:ext cx="109728" cy="109728"/>
          </a:xfrm>
          <a:prstGeom prst="ellipse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566160" y="3483864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approaches for uncertainty quantification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35040" y="960120"/>
            <a:ext cx="2651760" cy="3886200"/>
          </a:xfrm>
          <a:prstGeom prst="rect">
            <a:avLst/>
          </a:prstGeom>
          <a:solidFill>
            <a:srgbClr val="253D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035040" y="960120"/>
            <a:ext cx="2651760" cy="457200"/>
          </a:xfrm>
          <a:prstGeom prst="rect">
            <a:avLst/>
          </a:prstGeom>
          <a:solidFill>
            <a:srgbClr val="6B1A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035040" y="98755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035040" y="11887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System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17920" y="1554480"/>
            <a:ext cx="109728" cy="109728"/>
          </a:xfrm>
          <a:prstGeom prst="ellipse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00800" y="1508760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prediction pipeline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2212848"/>
            <a:ext cx="109728" cy="109728"/>
          </a:xfrm>
          <a:prstGeom prst="ellipse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00800" y="2167128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game win-probability updates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17920" y="2871216"/>
            <a:ext cx="109728" cy="109728"/>
          </a:xfrm>
          <a:prstGeom prst="ellipse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00800" y="2825496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Week-by-week EWMA recalculation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17920" y="3529584"/>
            <a:ext cx="109728" cy="109728"/>
          </a:xfrm>
          <a:prstGeom prst="ellipse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400800" y="3483864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model retraining each season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improvement: 68% → 72–75% accuracy with player-level data and ensemble stacking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9E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B2E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8412480" cy="1005840"/>
          </a:xfrm>
          <a:prstGeom prst="rect">
            <a:avLst/>
          </a:prstGeom>
          <a:solidFill>
            <a:srgbClr val="253D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 can provide moderate predictive power (~68%) for NFL game outcomes using historical EWMA team performance metrics — consistently outperforming the 56.4% home-win baseline.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1965960" cy="1371600"/>
          </a:xfrm>
          <a:prstGeom prst="rect">
            <a:avLst/>
          </a:prstGeom>
          <a:solidFill>
            <a:srgbClr val="253D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23774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65760" y="297180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(Random Forest)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14600" y="2331720"/>
            <a:ext cx="1965960" cy="1371600"/>
          </a:xfrm>
          <a:prstGeom prst="rect">
            <a:avLst/>
          </a:prstGeom>
          <a:solidFill>
            <a:srgbClr val="253D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14600" y="23774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514600" y="297180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F1 Score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(Random Forest)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2331720"/>
            <a:ext cx="1965960" cy="1371600"/>
          </a:xfrm>
          <a:prstGeom prst="rect">
            <a:avLst/>
          </a:prstGeom>
          <a:solidFill>
            <a:srgbClr val="253D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63440" y="23774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663440" y="297180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12280" y="2331720"/>
            <a:ext cx="1965960" cy="1371600"/>
          </a:xfrm>
          <a:prstGeom prst="rect">
            <a:avLst/>
          </a:prstGeom>
          <a:solidFill>
            <a:srgbClr val="253D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12280" y="23774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812280" y="297180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over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858768"/>
            <a:ext cx="64008" cy="0"/>
          </a:xfrm>
          <a:prstGeom prst="rect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38221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achieved the best overall performance across accuracy and F1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867912"/>
            <a:ext cx="64008" cy="0"/>
          </a:xfrm>
          <a:prstGeom prst="rect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39776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and Logistic Regression also performed competitively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877056"/>
            <a:ext cx="64008" cy="0"/>
          </a:xfrm>
          <a:prstGeom prst="rect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413308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align with the 44–67% range found in published NFL prediction research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886200"/>
            <a:ext cx="64008" cy="0"/>
          </a:xfrm>
          <a:prstGeom prst="rect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" y="4288536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feature sets (injuries, weather, player data) are the clearest path to improvement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45720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Nikita Jain  ·  Yanchen Zhou  ·  Charlie Peng  ·  MSDS 422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1758</Words>
  <Application>Microsoft Macintosh PowerPoint</Application>
  <PresentationFormat>On-screen Show (16:9)</PresentationFormat>
  <Paragraphs>301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NFL Game Outcomes Using Machine Learning</dc:title>
  <dc:subject>PptxGenJS Presentation</dc:subject>
  <dc:creator>PptxGenJS</dc:creator>
  <cp:lastModifiedBy>Charlie Peng</cp:lastModifiedBy>
  <cp:revision>2</cp:revision>
  <dcterms:created xsi:type="dcterms:W3CDTF">2026-03-11T23:06:40Z</dcterms:created>
  <dcterms:modified xsi:type="dcterms:W3CDTF">2026-03-11T23:12:39Z</dcterms:modified>
</cp:coreProperties>
</file>